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Poppins" panose="00000500000000000000" pitchFamily="50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eted user" initials="" lastIdx="2" clrIdx="0"/>
  <p:cmAuthor id="1" name="Andrey Malafieiev" initials="" lastIdx="7" clrIdx="1"/>
  <p:cmAuthor id="2" name="Omer Ginor" initials="" lastIdx="10" clrIdx="2"/>
  <p:cmAuthor id="3" name="Vadym Marushchak" initials="" lastIdx="3" clrIdx="3"/>
  <p:cmAuthor id="4" name="Metin Torosoglu" initials="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818" y="1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23beb837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23beb837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87749dafa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87749dafa_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23beb837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23beb837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23beb837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23beb8376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23beb837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23beb837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3beb837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23beb837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23beb8376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223beb8376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23beb837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223beb837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23beb8376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23beb8376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223beb8376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223beb8376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7350" y="743600"/>
            <a:ext cx="4236900" cy="3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The calculator is to be used by sales team members, dealers and farmers.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As such, it needs to have a good balance between simplicity to use (and a good conversion rate towards completing it) and reliability - coming from the perception that enough case-specific information has been taken into account.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The tool needs to be accessible and useful on desktop and on mobile devices alike.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There will be two levels of inputs: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lang="en-GB" sz="1200">
                <a:latin typeface="Poppins"/>
                <a:ea typeface="Poppins"/>
                <a:cs typeface="Poppins"/>
                <a:sym typeface="Poppins"/>
              </a:rPr>
              <a:t>Level 1 are inputs relevant to ALL the calculations (e.g. implement width, organic vs conventional farming etc.).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04800" algn="l" rtl="0"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Char char="○"/>
            </a:pPr>
            <a:r>
              <a:rPr lang="en-GB" sz="1200">
                <a:latin typeface="Poppins"/>
                <a:ea typeface="Poppins"/>
                <a:cs typeface="Poppins"/>
                <a:sym typeface="Poppins"/>
              </a:rPr>
              <a:t>Level 2 are inputs relevant only to a specific crop.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769075" y="743600"/>
            <a:ext cx="3970800" cy="42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-GB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(nice to have - but important for marketing) The result of the calculation should be exportable in PDF format and sent to the user’s email address, which is filled ahead of time.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-GB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many calculations as possible should rely on  admin-accessible tables of values and indexes relative to the “base case” of traditional (chemical) intensive farming practices in Germany (Bavaria). Those indexes will include: seed prices (p/ country), crop prices (p/ country), energy costs (p/ country), labour costs (p/ country), organic vs normal input costs, drip irrigation impact.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-GB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Process-wise, would be best to turn this into a designed prototype on Figma and collect feedback, before developing.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Technical Requirements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30575" y="57125"/>
            <a:ext cx="3310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81675" y="778425"/>
            <a:ext cx="20850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format of the email report should be more-or-less according to the format of the non-pdf online report, described in the next slide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290750" y="20002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H1 </a:t>
            </a:r>
            <a:endParaRPr b="1"/>
          </a:p>
        </p:txBody>
      </p:sp>
      <p:sp>
        <p:nvSpPr>
          <p:cNvPr id="67" name="Google Shape;67;p14"/>
          <p:cNvSpPr/>
          <p:nvPr/>
        </p:nvSpPr>
        <p:spPr>
          <a:xfrm>
            <a:off x="1290750" y="2701575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H2 </a:t>
            </a:r>
            <a:endParaRPr b="1"/>
          </a:p>
        </p:txBody>
      </p:sp>
      <p:sp>
        <p:nvSpPr>
          <p:cNvPr id="68" name="Google Shape;68;p14"/>
          <p:cNvSpPr/>
          <p:nvPr/>
        </p:nvSpPr>
        <p:spPr>
          <a:xfrm>
            <a:off x="2384250" y="3443550"/>
            <a:ext cx="2217600" cy="31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Begin calculator 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290400" y="57125"/>
            <a:ext cx="2829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1 - the farm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881675" y="778425"/>
            <a:ext cx="2085000" cy="16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(nice to have) add search field to country selector to make it easier to find country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 fields should have an “i” icon, explaining why they are relevant to the calculation.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90750" y="2262350"/>
            <a:ext cx="24339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Country of your farm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817825" y="2262350"/>
            <a:ext cx="187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Afghanistan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Albania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….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 rot="10800000">
            <a:off x="4000500" y="2494225"/>
            <a:ext cx="138000" cy="1281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2581650" y="3049225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→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1290750" y="3539350"/>
            <a:ext cx="24339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2.      Field Geometry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67400" y="2335275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67400" y="2611717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67400" y="2888158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67400" y="3164600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67400" y="3441042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67400" y="3717483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67400" y="3993925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3817825" y="3557750"/>
            <a:ext cx="187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Complex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 rot="10800000">
            <a:off x="4000500" y="3789625"/>
            <a:ext cx="138000" cy="1281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182425" y="3292700"/>
            <a:ext cx="5015400" cy="885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EFEFE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farm and methods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979625" y="2454925"/>
            <a:ext cx="326700" cy="225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041950" y="3668875"/>
            <a:ext cx="326700" cy="2253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6881675" y="778425"/>
            <a:ext cx="2085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290750" y="2262350"/>
            <a:ext cx="24339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2.     Field Geometry</a:t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3817825" y="2262350"/>
            <a:ext cx="187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Complex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 rot="10800000">
            <a:off x="4000500" y="2494225"/>
            <a:ext cx="138000" cy="1281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81650" y="3049225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→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290750" y="3539350"/>
            <a:ext cx="24339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3.      Obstacles in the field? (trees etc)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67400" y="2335275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67400" y="2611717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67400" y="2888158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67400" y="3164600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67400" y="3441042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67400" y="3717483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67400" y="3993925"/>
            <a:ext cx="138000" cy="1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817825" y="3557750"/>
            <a:ext cx="187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None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 rot="10800000">
            <a:off x="4000500" y="3789625"/>
            <a:ext cx="138000" cy="1281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227475" y="3382450"/>
            <a:ext cx="5015400" cy="817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EFEFE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farm and methods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290400" y="57125"/>
            <a:ext cx="2829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2 - the farm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				</a:t>
            </a: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In a similar way, add the following inputs:</a:t>
            </a:r>
            <a:endParaRPr>
              <a:solidFill>
                <a:srgbClr val="CC0000"/>
              </a:solidFill>
            </a:endParaRPr>
          </a:p>
          <a:p>
            <a:pPr marL="2159999" lvl="0" indent="-3175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AutoNum type="arabicPeriod"/>
            </a:pPr>
            <a:r>
              <a:rPr lang="en-GB">
                <a:solidFill>
                  <a:srgbClr val="CC0000"/>
                </a:solidFill>
              </a:rPr>
              <a:t>Farm topography (options: flat, hilly)</a:t>
            </a:r>
            <a:endParaRPr>
              <a:solidFill>
                <a:srgbClr val="CC0000"/>
              </a:solidFill>
            </a:endParaRPr>
          </a:p>
          <a:p>
            <a:pPr marL="2159999" lvl="0" indent="-3175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AutoNum type="arabicPeriod"/>
            </a:pPr>
            <a:r>
              <a:rPr lang="en-GB">
                <a:solidFill>
                  <a:srgbClr val="CC0000"/>
                </a:solidFill>
              </a:rPr>
              <a:t>Soil type (options: sandy, other)</a:t>
            </a:r>
            <a:endParaRPr>
              <a:solidFill>
                <a:srgbClr val="CC0000"/>
              </a:solidFill>
            </a:endParaRPr>
          </a:p>
          <a:p>
            <a:pPr marL="2159999" lvl="0" indent="-3175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AutoNum type="arabicPeriod"/>
            </a:pPr>
            <a:r>
              <a:rPr lang="en-GB">
                <a:solidFill>
                  <a:srgbClr val="CC0000"/>
                </a:solidFill>
              </a:rPr>
              <a:t>Implement width (options: 3m, 4m, 5m, 6m, 9m, 10m, 15m, 18m or more)</a:t>
            </a:r>
            <a:endParaRPr>
              <a:solidFill>
                <a:srgbClr val="CC0000"/>
              </a:solidFill>
            </a:endParaRPr>
          </a:p>
          <a:p>
            <a:pPr marL="2159999" lvl="0" indent="-3175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AutoNum type="arabicPeriod"/>
            </a:pPr>
            <a:r>
              <a:rPr lang="en-GB">
                <a:solidFill>
                  <a:srgbClr val="CC0000"/>
                </a:solidFill>
              </a:rPr>
              <a:t>Organic or conventional farming? (options: organic, conventional)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881675" y="778425"/>
            <a:ext cx="2085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farm and methods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67400" y="2335275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67400" y="2611717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67400" y="2888158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67400" y="3164600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67400" y="3441042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67400" y="3717483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667400" y="3993925"/>
            <a:ext cx="138000" cy="12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290400" y="57125"/>
            <a:ext cx="2829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2 - the farm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595200" y="57125"/>
            <a:ext cx="277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3 - the crops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881675" y="778425"/>
            <a:ext cx="2085000" cy="31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Crops options: list of relevant crops to be received from Metin.</a:t>
            </a:r>
            <a:b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 type will include whether crop is grown for human consumption, animal feed, ethanol or oil (if relevant). It will also include grassland (pasture) and other relevant non-arable crops.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In-row operations options: Yes, No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Drip irrigation: Yes, No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you grow</a:t>
            </a:r>
            <a:endParaRPr b="1"/>
          </a:p>
        </p:txBody>
      </p:sp>
      <p:sp>
        <p:nvSpPr>
          <p:cNvPr id="148" name="Google Shape;148;p18"/>
          <p:cNvSpPr/>
          <p:nvPr/>
        </p:nvSpPr>
        <p:spPr>
          <a:xfrm>
            <a:off x="554350" y="2061925"/>
            <a:ext cx="604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9" name="Google Shape;149;p18"/>
          <p:cNvSpPr txBox="1"/>
          <p:nvPr/>
        </p:nvSpPr>
        <p:spPr>
          <a:xfrm>
            <a:off x="249425" y="2200550"/>
            <a:ext cx="43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1</a:t>
            </a:r>
            <a:endParaRPr sz="1800" b="1"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637775" y="2021950"/>
            <a:ext cx="1109700" cy="535150"/>
            <a:chOff x="1018775" y="2021950"/>
            <a:chExt cx="1109700" cy="535150"/>
          </a:xfrm>
        </p:grpSpPr>
        <p:sp>
          <p:nvSpPr>
            <p:cNvPr id="151" name="Google Shape;151;p18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041825" y="2021950"/>
              <a:ext cx="88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Crop</a:t>
              </a:r>
              <a:endParaRPr sz="1200" b="1"/>
            </a:p>
          </p:txBody>
        </p:sp>
        <p:sp>
          <p:nvSpPr>
            <p:cNvPr id="153" name="Google Shape;153;p18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18"/>
          <p:cNvSpPr/>
          <p:nvPr/>
        </p:nvSpPr>
        <p:spPr>
          <a:xfrm>
            <a:off x="1856975" y="2305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5" name="Google Shape;155;p18"/>
          <p:cNvSpPr txBox="1"/>
          <p:nvPr/>
        </p:nvSpPr>
        <p:spPr>
          <a:xfrm>
            <a:off x="1880025" y="2021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Hectares</a:t>
            </a:r>
            <a:endParaRPr sz="1200" b="1"/>
          </a:p>
        </p:txBody>
      </p:sp>
      <p:sp>
        <p:nvSpPr>
          <p:cNvPr id="156" name="Google Shape;156;p18"/>
          <p:cNvSpPr/>
          <p:nvPr/>
        </p:nvSpPr>
        <p:spPr>
          <a:xfrm>
            <a:off x="3076175" y="2305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7" name="Google Shape;157;p18"/>
          <p:cNvSpPr txBox="1"/>
          <p:nvPr/>
        </p:nvSpPr>
        <p:spPr>
          <a:xfrm>
            <a:off x="3099225" y="2021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Yield/ Ha</a:t>
            </a:r>
            <a:endParaRPr sz="1200" b="1"/>
          </a:p>
        </p:txBody>
      </p:sp>
      <p:grpSp>
        <p:nvGrpSpPr>
          <p:cNvPr id="158" name="Google Shape;158;p18"/>
          <p:cNvGrpSpPr/>
          <p:nvPr/>
        </p:nvGrpSpPr>
        <p:grpSpPr>
          <a:xfrm>
            <a:off x="4013625" y="1869550"/>
            <a:ext cx="1515600" cy="687550"/>
            <a:chOff x="737025" y="1869550"/>
            <a:chExt cx="1515600" cy="687550"/>
          </a:xfrm>
        </p:grpSpPr>
        <p:sp>
          <p:nvSpPr>
            <p:cNvPr id="159" name="Google Shape;159;p18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737025" y="1869550"/>
              <a:ext cx="151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In-row </a:t>
              </a:r>
              <a:br>
                <a:rPr lang="en-GB" sz="1200" b="1"/>
              </a:br>
              <a:r>
                <a:rPr lang="en-GB" sz="1200" b="1"/>
                <a:t>operations?</a:t>
              </a:r>
              <a:endParaRPr sz="1200" b="1"/>
            </a:p>
          </p:txBody>
        </p:sp>
        <p:sp>
          <p:nvSpPr>
            <p:cNvPr id="161" name="Google Shape;161;p18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18"/>
          <p:cNvSpPr/>
          <p:nvPr/>
        </p:nvSpPr>
        <p:spPr>
          <a:xfrm>
            <a:off x="1634375" y="3066100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 Crop +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818875" y="3066100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Done 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418150" y="2093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165" name="Google Shape;165;p18"/>
          <p:cNvSpPr/>
          <p:nvPr/>
        </p:nvSpPr>
        <p:spPr>
          <a:xfrm>
            <a:off x="2762325" y="2093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166" name="Google Shape;166;p18"/>
          <p:cNvSpPr/>
          <p:nvPr/>
        </p:nvSpPr>
        <p:spPr>
          <a:xfrm>
            <a:off x="3959413" y="210070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167" name="Google Shape;167;p18"/>
          <p:cNvSpPr/>
          <p:nvPr/>
        </p:nvSpPr>
        <p:spPr>
          <a:xfrm>
            <a:off x="6727713" y="21074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grpSp>
        <p:nvGrpSpPr>
          <p:cNvPr id="168" name="Google Shape;168;p18"/>
          <p:cNvGrpSpPr/>
          <p:nvPr/>
        </p:nvGrpSpPr>
        <p:grpSpPr>
          <a:xfrm>
            <a:off x="5514575" y="2021950"/>
            <a:ext cx="1538650" cy="535150"/>
            <a:chOff x="1018775" y="2021950"/>
            <a:chExt cx="1538650" cy="535150"/>
          </a:xfrm>
        </p:grpSpPr>
        <p:sp>
          <p:nvSpPr>
            <p:cNvPr id="169" name="Google Shape;169;p18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041825" y="2021950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Drip Irrigation?</a:t>
              </a:r>
              <a:endParaRPr sz="1200" b="1"/>
            </a:p>
          </p:txBody>
        </p:sp>
        <p:sp>
          <p:nvSpPr>
            <p:cNvPr id="171" name="Google Shape;171;p18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Google Shape;172;p18"/>
          <p:cNvSpPr/>
          <p:nvPr/>
        </p:nvSpPr>
        <p:spPr>
          <a:xfrm>
            <a:off x="5253963" y="20619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881675" y="778425"/>
            <a:ext cx="2085000" cy="1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Adding a row (as many as 5 crops) comes after hitting the “Add Crop” button.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In-row operations options: Yes, No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you grow</a:t>
            </a:r>
            <a:endParaRPr b="1"/>
          </a:p>
        </p:txBody>
      </p:sp>
      <p:sp>
        <p:nvSpPr>
          <p:cNvPr id="182" name="Google Shape;182;p19"/>
          <p:cNvSpPr/>
          <p:nvPr/>
        </p:nvSpPr>
        <p:spPr>
          <a:xfrm>
            <a:off x="1634375" y="3599500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 Crop +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3796350" y="3599500"/>
            <a:ext cx="1822800" cy="35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Done 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3595200" y="57125"/>
            <a:ext cx="277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4 - the crops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54350" y="2061925"/>
            <a:ext cx="604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6" name="Google Shape;186;p19"/>
          <p:cNvSpPr txBox="1"/>
          <p:nvPr/>
        </p:nvSpPr>
        <p:spPr>
          <a:xfrm>
            <a:off x="249425" y="2200550"/>
            <a:ext cx="43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1</a:t>
            </a:r>
            <a:endParaRPr sz="1800" b="1"/>
          </a:p>
        </p:txBody>
      </p:sp>
      <p:grpSp>
        <p:nvGrpSpPr>
          <p:cNvPr id="187" name="Google Shape;187;p19"/>
          <p:cNvGrpSpPr/>
          <p:nvPr/>
        </p:nvGrpSpPr>
        <p:grpSpPr>
          <a:xfrm>
            <a:off x="637775" y="2021950"/>
            <a:ext cx="1109700" cy="535150"/>
            <a:chOff x="1018775" y="2021950"/>
            <a:chExt cx="1109700" cy="535150"/>
          </a:xfrm>
        </p:grpSpPr>
        <p:sp>
          <p:nvSpPr>
            <p:cNvPr id="188" name="Google Shape;188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1041825" y="2021950"/>
              <a:ext cx="88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Crop</a:t>
              </a:r>
              <a:endParaRPr sz="1200" b="1"/>
            </a:p>
          </p:txBody>
        </p:sp>
        <p:sp>
          <p:nvSpPr>
            <p:cNvPr id="190" name="Google Shape;190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" name="Google Shape;191;p19"/>
          <p:cNvSpPr/>
          <p:nvPr/>
        </p:nvSpPr>
        <p:spPr>
          <a:xfrm>
            <a:off x="1856975" y="2305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92" name="Google Shape;192;p19"/>
          <p:cNvSpPr txBox="1"/>
          <p:nvPr/>
        </p:nvSpPr>
        <p:spPr>
          <a:xfrm>
            <a:off x="1880025" y="2021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Hectares</a:t>
            </a:r>
            <a:endParaRPr sz="1200" b="1"/>
          </a:p>
        </p:txBody>
      </p:sp>
      <p:sp>
        <p:nvSpPr>
          <p:cNvPr id="193" name="Google Shape;193;p19"/>
          <p:cNvSpPr/>
          <p:nvPr/>
        </p:nvSpPr>
        <p:spPr>
          <a:xfrm>
            <a:off x="3076175" y="2305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94" name="Google Shape;194;p19"/>
          <p:cNvSpPr txBox="1"/>
          <p:nvPr/>
        </p:nvSpPr>
        <p:spPr>
          <a:xfrm>
            <a:off x="3099225" y="2021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Yield/ Ha</a:t>
            </a:r>
            <a:endParaRPr sz="1200" b="1"/>
          </a:p>
        </p:txBody>
      </p:sp>
      <p:grpSp>
        <p:nvGrpSpPr>
          <p:cNvPr id="195" name="Google Shape;195;p19"/>
          <p:cNvGrpSpPr/>
          <p:nvPr/>
        </p:nvGrpSpPr>
        <p:grpSpPr>
          <a:xfrm>
            <a:off x="4013625" y="1869550"/>
            <a:ext cx="1515600" cy="687550"/>
            <a:chOff x="737025" y="1869550"/>
            <a:chExt cx="1515600" cy="687550"/>
          </a:xfrm>
        </p:grpSpPr>
        <p:sp>
          <p:nvSpPr>
            <p:cNvPr id="196" name="Google Shape;196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737025" y="1869550"/>
              <a:ext cx="151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In-row </a:t>
              </a:r>
              <a:br>
                <a:rPr lang="en-GB" sz="1200" b="1"/>
              </a:br>
              <a:r>
                <a:rPr lang="en-GB" sz="1200" b="1"/>
                <a:t>operations?</a:t>
              </a:r>
              <a:endParaRPr sz="1200" b="1"/>
            </a:p>
          </p:txBody>
        </p:sp>
        <p:sp>
          <p:nvSpPr>
            <p:cNvPr id="198" name="Google Shape;198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19"/>
          <p:cNvSpPr/>
          <p:nvPr/>
        </p:nvSpPr>
        <p:spPr>
          <a:xfrm>
            <a:off x="1418150" y="2093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00" name="Google Shape;200;p19"/>
          <p:cNvSpPr/>
          <p:nvPr/>
        </p:nvSpPr>
        <p:spPr>
          <a:xfrm>
            <a:off x="2762325" y="2093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01" name="Google Shape;201;p19"/>
          <p:cNvSpPr/>
          <p:nvPr/>
        </p:nvSpPr>
        <p:spPr>
          <a:xfrm>
            <a:off x="3959413" y="210070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02" name="Google Shape;202;p19"/>
          <p:cNvSpPr/>
          <p:nvPr/>
        </p:nvSpPr>
        <p:spPr>
          <a:xfrm>
            <a:off x="6727713" y="21074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grpSp>
        <p:nvGrpSpPr>
          <p:cNvPr id="203" name="Google Shape;203;p19"/>
          <p:cNvGrpSpPr/>
          <p:nvPr/>
        </p:nvGrpSpPr>
        <p:grpSpPr>
          <a:xfrm>
            <a:off x="5514575" y="2021950"/>
            <a:ext cx="1538650" cy="535150"/>
            <a:chOff x="1018775" y="2021950"/>
            <a:chExt cx="1538650" cy="535150"/>
          </a:xfrm>
        </p:grpSpPr>
        <p:sp>
          <p:nvSpPr>
            <p:cNvPr id="204" name="Google Shape;204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1041825" y="2021950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Drip Irrigation?</a:t>
              </a:r>
              <a:endParaRPr sz="1200" b="1"/>
            </a:p>
          </p:txBody>
        </p:sp>
        <p:sp>
          <p:nvSpPr>
            <p:cNvPr id="206" name="Google Shape;206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9"/>
          <p:cNvSpPr/>
          <p:nvPr/>
        </p:nvSpPr>
        <p:spPr>
          <a:xfrm>
            <a:off x="5253963" y="20619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08" name="Google Shape;208;p19"/>
          <p:cNvSpPr/>
          <p:nvPr/>
        </p:nvSpPr>
        <p:spPr>
          <a:xfrm>
            <a:off x="554350" y="2823925"/>
            <a:ext cx="60474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09" name="Google Shape;209;p19"/>
          <p:cNvSpPr txBox="1"/>
          <p:nvPr/>
        </p:nvSpPr>
        <p:spPr>
          <a:xfrm>
            <a:off x="249425" y="2962550"/>
            <a:ext cx="43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2</a:t>
            </a:r>
            <a:endParaRPr sz="1800" b="1"/>
          </a:p>
        </p:txBody>
      </p:sp>
      <p:grpSp>
        <p:nvGrpSpPr>
          <p:cNvPr id="210" name="Google Shape;210;p19"/>
          <p:cNvGrpSpPr/>
          <p:nvPr/>
        </p:nvGrpSpPr>
        <p:grpSpPr>
          <a:xfrm>
            <a:off x="637775" y="2783950"/>
            <a:ext cx="1109700" cy="535150"/>
            <a:chOff x="1018775" y="2021950"/>
            <a:chExt cx="1109700" cy="535150"/>
          </a:xfrm>
        </p:grpSpPr>
        <p:sp>
          <p:nvSpPr>
            <p:cNvPr id="211" name="Google Shape;211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1041825" y="2021950"/>
              <a:ext cx="88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Crop</a:t>
              </a:r>
              <a:endParaRPr sz="1200" b="1"/>
            </a:p>
          </p:txBody>
        </p:sp>
        <p:sp>
          <p:nvSpPr>
            <p:cNvPr id="213" name="Google Shape;213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19"/>
          <p:cNvSpPr/>
          <p:nvPr/>
        </p:nvSpPr>
        <p:spPr>
          <a:xfrm>
            <a:off x="1856975" y="3067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15" name="Google Shape;215;p19"/>
          <p:cNvSpPr txBox="1"/>
          <p:nvPr/>
        </p:nvSpPr>
        <p:spPr>
          <a:xfrm>
            <a:off x="1880025" y="2783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Hectares</a:t>
            </a:r>
            <a:endParaRPr sz="1200" b="1"/>
          </a:p>
        </p:txBody>
      </p:sp>
      <p:sp>
        <p:nvSpPr>
          <p:cNvPr id="216" name="Google Shape;216;p19"/>
          <p:cNvSpPr/>
          <p:nvPr/>
        </p:nvSpPr>
        <p:spPr>
          <a:xfrm>
            <a:off x="3076175" y="3067700"/>
            <a:ext cx="1109700" cy="251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17" name="Google Shape;217;p19"/>
          <p:cNvSpPr txBox="1"/>
          <p:nvPr/>
        </p:nvSpPr>
        <p:spPr>
          <a:xfrm>
            <a:off x="3099225" y="2783950"/>
            <a:ext cx="88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Yield/ Ha</a:t>
            </a:r>
            <a:endParaRPr sz="1200" b="1"/>
          </a:p>
        </p:txBody>
      </p:sp>
      <p:grpSp>
        <p:nvGrpSpPr>
          <p:cNvPr id="218" name="Google Shape;218;p19"/>
          <p:cNvGrpSpPr/>
          <p:nvPr/>
        </p:nvGrpSpPr>
        <p:grpSpPr>
          <a:xfrm>
            <a:off x="4013625" y="2631550"/>
            <a:ext cx="1515600" cy="687550"/>
            <a:chOff x="737025" y="1869550"/>
            <a:chExt cx="1515600" cy="687550"/>
          </a:xfrm>
        </p:grpSpPr>
        <p:sp>
          <p:nvSpPr>
            <p:cNvPr id="219" name="Google Shape;219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737025" y="1869550"/>
              <a:ext cx="151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In-row </a:t>
              </a:r>
              <a:br>
                <a:rPr lang="en-GB" sz="1200" b="1"/>
              </a:br>
              <a:r>
                <a:rPr lang="en-GB" sz="1200" b="1"/>
                <a:t>operations?</a:t>
              </a:r>
              <a:endParaRPr sz="1200" b="1"/>
            </a:p>
          </p:txBody>
        </p:sp>
        <p:sp>
          <p:nvSpPr>
            <p:cNvPr id="221" name="Google Shape;221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19"/>
          <p:cNvSpPr/>
          <p:nvPr/>
        </p:nvSpPr>
        <p:spPr>
          <a:xfrm>
            <a:off x="1418150" y="2855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23" name="Google Shape;223;p19"/>
          <p:cNvSpPr/>
          <p:nvPr/>
        </p:nvSpPr>
        <p:spPr>
          <a:xfrm>
            <a:off x="2762325" y="285595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24" name="Google Shape;224;p19"/>
          <p:cNvSpPr/>
          <p:nvPr/>
        </p:nvSpPr>
        <p:spPr>
          <a:xfrm>
            <a:off x="3959413" y="2862700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sp>
        <p:nvSpPr>
          <p:cNvPr id="225" name="Google Shape;225;p19"/>
          <p:cNvSpPr/>
          <p:nvPr/>
        </p:nvSpPr>
        <p:spPr>
          <a:xfrm>
            <a:off x="6727713" y="28694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  <p:grpSp>
        <p:nvGrpSpPr>
          <p:cNvPr id="226" name="Google Shape;226;p19"/>
          <p:cNvGrpSpPr/>
          <p:nvPr/>
        </p:nvGrpSpPr>
        <p:grpSpPr>
          <a:xfrm>
            <a:off x="5514575" y="2783950"/>
            <a:ext cx="1538650" cy="535150"/>
            <a:chOff x="1018775" y="2021950"/>
            <a:chExt cx="1538650" cy="535150"/>
          </a:xfrm>
        </p:grpSpPr>
        <p:sp>
          <p:nvSpPr>
            <p:cNvPr id="227" name="Google Shape;227;p19"/>
            <p:cNvSpPr/>
            <p:nvPr/>
          </p:nvSpPr>
          <p:spPr>
            <a:xfrm>
              <a:off x="1018775" y="2305700"/>
              <a:ext cx="1109700" cy="25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1041825" y="2021950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/>
                <a:t>Drip Irrigation?</a:t>
              </a:r>
              <a:endParaRPr sz="1200" b="1"/>
            </a:p>
          </p:txBody>
        </p:sp>
        <p:sp>
          <p:nvSpPr>
            <p:cNvPr id="229" name="Google Shape;229;p19"/>
            <p:cNvSpPr/>
            <p:nvPr/>
          </p:nvSpPr>
          <p:spPr>
            <a:xfrm rot="10800000">
              <a:off x="1083900" y="2391925"/>
              <a:ext cx="82800" cy="780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19"/>
          <p:cNvSpPr/>
          <p:nvPr/>
        </p:nvSpPr>
        <p:spPr>
          <a:xfrm>
            <a:off x="5253963" y="2823925"/>
            <a:ext cx="201300" cy="211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965900" y="57125"/>
            <a:ext cx="3468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5 - details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881675" y="778425"/>
            <a:ext cx="2085000" cy="24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Collecting email is a nice to have step, important for long funnel and statistics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Block progress into the tool if no valid email entered.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984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implementing this feature, message should show that we will send results to your email.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290750" y="2073725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Name fields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1290750" y="2867825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Address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214375" y="1069350"/>
            <a:ext cx="35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290750" y="9853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Need text here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387350" y="57125"/>
            <a:ext cx="4639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Step 4 - </a:t>
            </a:r>
            <a:r>
              <a:rPr lang="en-GB" sz="19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 (</a:t>
            </a: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online version)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653075" y="778425"/>
            <a:ext cx="24525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349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will be used with farmers if we cannot, at this point, limit the viewing only to email.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3499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Also, this version would be more useful when used by our own sales reps or by dealers - we don’t want to have them need to wait until a report lands in their email.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3499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“Your inputs” section will show all the options the user has entered in the model (in steps 2 and 3), </a:t>
            </a:r>
            <a:r>
              <a:rPr lang="en-GB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including total farm size</a:t>
            </a:r>
            <a:r>
              <a:rPr lang="en-GB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69999" lvl="0" indent="-243499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-GB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“Calculator results” section will show, for each of the 3 product packages displayed, the following: 1) time to recover investment, 2) total cost saving per year, 3) yield increase per year 4) Return on investment within 3 years.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3417177" y="2173400"/>
            <a:ext cx="3215400" cy="244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3596650" y="2577300"/>
            <a:ext cx="2817900" cy="3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1290750" y="91080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Results - FieldBee products </a:t>
            </a:r>
            <a:endParaRPr b="1"/>
          </a:p>
        </p:txBody>
      </p:sp>
      <p:sp>
        <p:nvSpPr>
          <p:cNvPr id="256" name="Google Shape;256;p21"/>
          <p:cNvSpPr txBox="1"/>
          <p:nvPr/>
        </p:nvSpPr>
        <p:spPr>
          <a:xfrm>
            <a:off x="3652950" y="2221900"/>
            <a:ext cx="32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Manual guidance package</a:t>
            </a:r>
            <a:endParaRPr b="1"/>
          </a:p>
        </p:txBody>
      </p:sp>
      <p:sp>
        <p:nvSpPr>
          <p:cNvPr id="257" name="Google Shape;257;p21"/>
          <p:cNvSpPr/>
          <p:nvPr/>
        </p:nvSpPr>
        <p:spPr>
          <a:xfrm>
            <a:off x="3596650" y="3415500"/>
            <a:ext cx="2817900" cy="3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3652950" y="3060100"/>
            <a:ext cx="32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Mechanical autosteer package</a:t>
            </a:r>
            <a:endParaRPr b="1"/>
          </a:p>
        </p:txBody>
      </p:sp>
      <p:sp>
        <p:nvSpPr>
          <p:cNvPr id="259" name="Google Shape;259;p21"/>
          <p:cNvSpPr/>
          <p:nvPr/>
        </p:nvSpPr>
        <p:spPr>
          <a:xfrm>
            <a:off x="472450" y="2173400"/>
            <a:ext cx="2817900" cy="23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28750" y="1612300"/>
            <a:ext cx="328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Your Inputs</a:t>
            </a:r>
            <a:endParaRPr sz="1600" b="1"/>
          </a:p>
        </p:txBody>
      </p:sp>
      <p:sp>
        <p:nvSpPr>
          <p:cNvPr id="261" name="Google Shape;261;p21"/>
          <p:cNvSpPr txBox="1"/>
          <p:nvPr/>
        </p:nvSpPr>
        <p:spPr>
          <a:xfrm>
            <a:off x="528750" y="2204175"/>
            <a:ext cx="32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Farm Info</a:t>
            </a:r>
            <a:endParaRPr b="1"/>
          </a:p>
        </p:txBody>
      </p:sp>
      <p:sp>
        <p:nvSpPr>
          <p:cNvPr id="262" name="Google Shape;262;p21"/>
          <p:cNvSpPr txBox="1"/>
          <p:nvPr/>
        </p:nvSpPr>
        <p:spPr>
          <a:xfrm>
            <a:off x="528750" y="3305125"/>
            <a:ext cx="32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Crop info</a:t>
            </a:r>
            <a:endParaRPr b="1"/>
          </a:p>
        </p:txBody>
      </p:sp>
      <p:sp>
        <p:nvSpPr>
          <p:cNvPr id="263" name="Google Shape;263;p21"/>
          <p:cNvSpPr txBox="1"/>
          <p:nvPr/>
        </p:nvSpPr>
        <p:spPr>
          <a:xfrm>
            <a:off x="3473463" y="1632175"/>
            <a:ext cx="328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Calculator results </a:t>
            </a:r>
            <a:endParaRPr sz="1600" b="1"/>
          </a:p>
        </p:txBody>
      </p:sp>
      <p:sp>
        <p:nvSpPr>
          <p:cNvPr id="264" name="Google Shape;264;p21"/>
          <p:cNvSpPr/>
          <p:nvPr/>
        </p:nvSpPr>
        <p:spPr>
          <a:xfrm>
            <a:off x="3596650" y="4177500"/>
            <a:ext cx="2817900" cy="3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3652950" y="3822100"/>
            <a:ext cx="32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Hydraulic autosteer package</a:t>
            </a:r>
            <a:endParaRPr b="1"/>
          </a:p>
        </p:txBody>
      </p:sp>
      <p:sp>
        <p:nvSpPr>
          <p:cNvPr id="266" name="Google Shape;266;p21"/>
          <p:cNvSpPr/>
          <p:nvPr/>
        </p:nvSpPr>
        <p:spPr>
          <a:xfrm>
            <a:off x="599275" y="2604375"/>
            <a:ext cx="24525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655150" y="3720300"/>
            <a:ext cx="24525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/>
        </p:nvSpPr>
        <p:spPr>
          <a:xfrm>
            <a:off x="298900" y="79475"/>
            <a:ext cx="5675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latin typeface="Poppins"/>
                <a:ea typeface="Poppins"/>
                <a:cs typeface="Poppins"/>
                <a:sym typeface="Poppins"/>
              </a:rPr>
              <a:t>Mockup</a:t>
            </a: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285750" y="778425"/>
            <a:ext cx="6414600" cy="3892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7340825" y="133325"/>
            <a:ext cx="15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Poppins"/>
                <a:ea typeface="Poppins"/>
                <a:cs typeface="Poppins"/>
                <a:sym typeface="Poppins"/>
              </a:rPr>
              <a:t>Comments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130575" y="57125"/>
            <a:ext cx="3310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881675" y="778425"/>
            <a:ext cx="20850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49849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-GB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format of the email report should be more-or-less according to the format of the non-pdf online report, described in the next slide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1290750" y="2000250"/>
            <a:ext cx="44046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Thanks! The result of the calculations will be sent to your email shortly.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Poppins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2</cp:revision>
  <dcterms:modified xsi:type="dcterms:W3CDTF">2022-12-05T15:54:51Z</dcterms:modified>
</cp:coreProperties>
</file>